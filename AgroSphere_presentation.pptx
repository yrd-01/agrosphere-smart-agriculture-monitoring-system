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2" r:id="rId4"/>
    <p:sldId id="261" r:id="rId5"/>
    <p:sldId id="266" r:id="rId6"/>
    <p:sldId id="259" r:id="rId7"/>
    <p:sldId id="270" r:id="rId8"/>
    <p:sldId id="269" r:id="rId9"/>
    <p:sldId id="263" r:id="rId10"/>
    <p:sldId id="268" r:id="rId11"/>
    <p:sldId id="264" r:id="rId12"/>
    <p:sldId id="265"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FDD225-50B9-4E88-859D-B64BF2E35CD2}" type="datetimeFigureOut">
              <a:rPr lang="en-IN" smtClean="0"/>
              <a:t>16-03-2026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37FED-9AAD-4653-80B2-CF0B137EFD4A}" type="slidenum">
              <a:rPr lang="en-IN" smtClean="0"/>
              <a:t>‹#›</a:t>
            </a:fld>
            <a:endParaRPr lang="en-IN"/>
          </a:p>
        </p:txBody>
      </p:sp>
    </p:spTree>
    <p:extLst>
      <p:ext uri="{BB962C8B-B14F-4D97-AF65-F5344CB8AC3E}">
        <p14:creationId xmlns:p14="http://schemas.microsoft.com/office/powerpoint/2010/main" val="4270277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C37FED-9AAD-4653-80B2-CF0B137EFD4A}" type="slidenum">
              <a:rPr lang="en-IN" smtClean="0"/>
              <a:t>12</a:t>
            </a:fld>
            <a:endParaRPr lang="en-IN"/>
          </a:p>
        </p:txBody>
      </p:sp>
    </p:spTree>
    <p:extLst>
      <p:ext uri="{BB962C8B-B14F-4D97-AF65-F5344CB8AC3E}">
        <p14:creationId xmlns:p14="http://schemas.microsoft.com/office/powerpoint/2010/main" val="294881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99E1D-DE0E-5D8C-38B5-60271CEBBD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CEFC144-EDD0-42EC-D84A-FC81DD130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41395B-A748-0D1E-D79E-E6B35E1D0C49}"/>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5" name="Footer Placeholder 4">
            <a:extLst>
              <a:ext uri="{FF2B5EF4-FFF2-40B4-BE49-F238E27FC236}">
                <a16:creationId xmlns:a16="http://schemas.microsoft.com/office/drawing/2014/main" id="{840C0035-9418-A3B2-3999-F59103B12F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B51646-45DD-EC8E-372C-9E787AC48D94}"/>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3141965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5421B-5D86-9238-2EF6-7CA1A26A4F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201EC4-6C99-93B4-4233-AF1A78D400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5712DF-99F8-972E-72A7-64BBF6EFEBBE}"/>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5" name="Footer Placeholder 4">
            <a:extLst>
              <a:ext uri="{FF2B5EF4-FFF2-40B4-BE49-F238E27FC236}">
                <a16:creationId xmlns:a16="http://schemas.microsoft.com/office/drawing/2014/main" id="{D05C6135-E3DA-A11C-6DF4-A6AA2409D9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D83087-244D-871C-3078-13BC6C0BBD35}"/>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3866010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8679A-1056-BA1D-F4FB-74614F63D2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D2C702-2591-FF0C-1F72-F6A073E89A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3B14E9-9117-CADC-72AA-9EFBB102DD3A}"/>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5" name="Footer Placeholder 4">
            <a:extLst>
              <a:ext uri="{FF2B5EF4-FFF2-40B4-BE49-F238E27FC236}">
                <a16:creationId xmlns:a16="http://schemas.microsoft.com/office/drawing/2014/main" id="{BA132E18-A316-2DB2-5FE7-E23A448286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355255-88F4-4134-F9FC-D0C413C1E29B}"/>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3554535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F35C-D659-1778-D41B-17A8EE0ACB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D577E4-1994-EBD8-E50B-C03CC3A1C3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B29D8C-E2CE-0D7D-1545-3E7F0EAD90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6277A95-F5B7-8DB7-C8CB-FCA9982B8884}"/>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6" name="Footer Placeholder 5">
            <a:extLst>
              <a:ext uri="{FF2B5EF4-FFF2-40B4-BE49-F238E27FC236}">
                <a16:creationId xmlns:a16="http://schemas.microsoft.com/office/drawing/2014/main" id="{F0334BC2-2DF4-229F-2072-D9C9258565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A521DD-37FC-4783-F2A5-CFC12901EAA5}"/>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4116854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BF4C8-4E3E-1130-7AFF-FCC69EA250F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F491B3-1C89-D0C6-34A1-18F9E9777D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1B085C-C231-27EC-5118-0727FD211D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7EE404-82A0-BB20-BB60-484A7AB585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8762D-D5C3-0867-D7BC-894B35506C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CF39E0-D916-EAC7-A01A-3C59674015F1}"/>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8" name="Footer Placeholder 7">
            <a:extLst>
              <a:ext uri="{FF2B5EF4-FFF2-40B4-BE49-F238E27FC236}">
                <a16:creationId xmlns:a16="http://schemas.microsoft.com/office/drawing/2014/main" id="{772FEF7B-E999-773F-40FD-E7F03927604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A73CBE-9D43-FD45-860A-506F723179A1}"/>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4004808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2FB61-0A0A-C562-5074-0D83933B9D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1464DC-10AD-99E0-F711-A09B2C674DFB}"/>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4" name="Footer Placeholder 3">
            <a:extLst>
              <a:ext uri="{FF2B5EF4-FFF2-40B4-BE49-F238E27FC236}">
                <a16:creationId xmlns:a16="http://schemas.microsoft.com/office/drawing/2014/main" id="{DA029F47-26BB-F2DB-B5E9-177DF0DF33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CC82338-D4B9-BB17-3731-0CFED106AACE}"/>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329168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BE54AF-B204-F957-E08D-14B7B5F3FF83}"/>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3" name="Footer Placeholder 2">
            <a:extLst>
              <a:ext uri="{FF2B5EF4-FFF2-40B4-BE49-F238E27FC236}">
                <a16:creationId xmlns:a16="http://schemas.microsoft.com/office/drawing/2014/main" id="{60FF399D-96BC-3165-2BEF-E17D344031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60A3B3-632C-CD09-AF62-C20AF05C5A01}"/>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1547377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30155-D035-7F5E-DC79-2091FC0FB3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ED5399-A46D-D5C5-D251-99A7183613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450BB6-B15D-E98F-002D-8AE9484B47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5E7CDF-1CA5-A935-1932-BAC8C99DE540}"/>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6" name="Footer Placeholder 5">
            <a:extLst>
              <a:ext uri="{FF2B5EF4-FFF2-40B4-BE49-F238E27FC236}">
                <a16:creationId xmlns:a16="http://schemas.microsoft.com/office/drawing/2014/main" id="{95628257-94EE-9DE0-62D1-8988F754E3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9E178A-663E-4DF0-FC8C-412FC210EA5A}"/>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928959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1546D-AC55-A1CF-EC08-E7297A18E0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8056AB-1F83-71BB-09D1-305C1C8A33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3B38FE-6B33-CFE6-03B9-350759A9F6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11556D-BFDD-A783-8447-0D807D932DA4}"/>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6" name="Footer Placeholder 5">
            <a:extLst>
              <a:ext uri="{FF2B5EF4-FFF2-40B4-BE49-F238E27FC236}">
                <a16:creationId xmlns:a16="http://schemas.microsoft.com/office/drawing/2014/main" id="{60DAA524-2DC9-2496-635B-6C58CF6BE7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E7F835-81A8-5EFD-8AD7-B793E2FEC44B}"/>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2695910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F3EF3-28AE-AF3F-8BEA-122E5C4B3C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22A29D-F141-621F-A2CE-EA976F887C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989661-18FD-8557-741A-EE4AD4F07B89}"/>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5" name="Footer Placeholder 4">
            <a:extLst>
              <a:ext uri="{FF2B5EF4-FFF2-40B4-BE49-F238E27FC236}">
                <a16:creationId xmlns:a16="http://schemas.microsoft.com/office/drawing/2014/main" id="{E020CE81-F988-3613-F866-CA97B7F46E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122D27-69C9-A816-E6F6-F079B000A2F8}"/>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3106799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29C655-63AD-D674-FC2E-DF0D50024A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50C1AB-A8BA-9261-FD6E-A1D27990AD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61081F-9915-61F7-9451-D31BA571030A}"/>
              </a:ext>
            </a:extLst>
          </p:cNvPr>
          <p:cNvSpPr>
            <a:spLocks noGrp="1"/>
          </p:cNvSpPr>
          <p:nvPr>
            <p:ph type="dt" sz="half" idx="10"/>
          </p:nvPr>
        </p:nvSpPr>
        <p:spPr/>
        <p:txBody>
          <a:bodyPr/>
          <a:lstStyle/>
          <a:p>
            <a:fld id="{5DDC931C-C175-401A-9769-B973B7FA73EF}" type="datetimeFigureOut">
              <a:rPr lang="en-IN" smtClean="0"/>
              <a:t>16-03-2026</a:t>
            </a:fld>
            <a:endParaRPr lang="en-IN"/>
          </a:p>
        </p:txBody>
      </p:sp>
      <p:sp>
        <p:nvSpPr>
          <p:cNvPr id="5" name="Footer Placeholder 4">
            <a:extLst>
              <a:ext uri="{FF2B5EF4-FFF2-40B4-BE49-F238E27FC236}">
                <a16:creationId xmlns:a16="http://schemas.microsoft.com/office/drawing/2014/main" id="{5DE43CD1-CDEB-E3B4-1D00-5208D4BB9D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9D62E-2BE2-937C-179A-90C64F145E60}"/>
              </a:ext>
            </a:extLst>
          </p:cNvPr>
          <p:cNvSpPr>
            <a:spLocks noGrp="1"/>
          </p:cNvSpPr>
          <p:nvPr>
            <p:ph type="sldNum" sz="quarter" idx="12"/>
          </p:nvPr>
        </p:nvSpPr>
        <p:spPr/>
        <p:txBody>
          <a:bodyPr/>
          <a:lstStyle/>
          <a:p>
            <a:fld id="{C8728F63-45BA-4CFB-AAFD-C0CB0640D0A4}" type="slidenum">
              <a:rPr lang="en-IN" smtClean="0"/>
              <a:t>‹#›</a:t>
            </a:fld>
            <a:endParaRPr lang="en-IN"/>
          </a:p>
        </p:txBody>
      </p:sp>
    </p:spTree>
    <p:extLst>
      <p:ext uri="{BB962C8B-B14F-4D97-AF65-F5344CB8AC3E}">
        <p14:creationId xmlns:p14="http://schemas.microsoft.com/office/powerpoint/2010/main" val="1699520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FE31A6-A12F-AA71-CA2D-A59E4FBEB7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45ADD4-DC77-138F-E968-DE6599A68A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2F8E6F-8DB9-91DB-3441-7C6E43547F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DC931C-C175-401A-9769-B973B7FA73EF}" type="datetimeFigureOut">
              <a:rPr lang="en-IN" smtClean="0"/>
              <a:t>16-03-2026</a:t>
            </a:fld>
            <a:endParaRPr lang="en-IN"/>
          </a:p>
        </p:txBody>
      </p:sp>
      <p:sp>
        <p:nvSpPr>
          <p:cNvPr id="5" name="Footer Placeholder 4">
            <a:extLst>
              <a:ext uri="{FF2B5EF4-FFF2-40B4-BE49-F238E27FC236}">
                <a16:creationId xmlns:a16="http://schemas.microsoft.com/office/drawing/2014/main" id="{1F21619F-608E-DC6E-C852-D0B7586BA7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CA934B-D57C-36CB-A121-ED7CA7C00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728F63-45BA-4CFB-AAFD-C0CB0640D0A4}" type="slidenum">
              <a:rPr lang="en-IN" smtClean="0"/>
              <a:t>‹#›</a:t>
            </a:fld>
            <a:endParaRPr lang="en-IN"/>
          </a:p>
        </p:txBody>
      </p:sp>
    </p:spTree>
    <p:extLst>
      <p:ext uri="{BB962C8B-B14F-4D97-AF65-F5344CB8AC3E}">
        <p14:creationId xmlns:p14="http://schemas.microsoft.com/office/powerpoint/2010/main" val="2995976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EB344A-FD99-91F9-7A68-C94A603CC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88"/>
            <a:ext cx="12192000" cy="6864888"/>
          </a:xfrm>
          <a:prstGeom prst="rect">
            <a:avLst/>
          </a:prstGeom>
        </p:spPr>
      </p:pic>
      <p:sp>
        <p:nvSpPr>
          <p:cNvPr id="2" name="Title 1">
            <a:extLst>
              <a:ext uri="{FF2B5EF4-FFF2-40B4-BE49-F238E27FC236}">
                <a16:creationId xmlns:a16="http://schemas.microsoft.com/office/drawing/2014/main" id="{4D432FB4-6EBD-65B4-CE87-01B7C8C71E61}"/>
              </a:ext>
            </a:extLst>
          </p:cNvPr>
          <p:cNvSpPr>
            <a:spLocks noGrp="1"/>
          </p:cNvSpPr>
          <p:nvPr>
            <p:ph type="ctrTitle"/>
          </p:nvPr>
        </p:nvSpPr>
        <p:spPr>
          <a:xfrm>
            <a:off x="0" y="74715"/>
            <a:ext cx="12192000" cy="1278193"/>
          </a:xfrm>
          <a:solidFill>
            <a:schemeClr val="accent2"/>
          </a:solidFill>
        </p:spPr>
        <p:txBody>
          <a:bodyPr>
            <a:normAutofit fontScale="90000"/>
          </a:bodyPr>
          <a:lstStyle/>
          <a:p>
            <a:r>
              <a:rPr lang="en-US" sz="4000" b="1" u="sng" dirty="0" err="1">
                <a:solidFill>
                  <a:schemeClr val="tx1">
                    <a:lumMod val="85000"/>
                    <a:lumOff val="15000"/>
                  </a:schemeClr>
                </a:solidFill>
                <a:latin typeface="Times New Roman" panose="02020603050405020304" pitchFamily="18" charset="0"/>
                <a:cs typeface="Times New Roman" panose="02020603050405020304" pitchFamily="18" charset="0"/>
              </a:rPr>
              <a:t>AgroSphere</a:t>
            </a:r>
            <a:r>
              <a:rPr lang="en-US" sz="4000" b="1" u="sng" dirty="0">
                <a:solidFill>
                  <a:schemeClr val="tx1">
                    <a:lumMod val="85000"/>
                    <a:lumOff val="15000"/>
                  </a:schemeClr>
                </a:solidFill>
                <a:latin typeface="Times New Roman" panose="02020603050405020304" pitchFamily="18" charset="0"/>
                <a:cs typeface="Times New Roman" panose="02020603050405020304" pitchFamily="18" charset="0"/>
              </a:rPr>
              <a:t>: An IoT-Based Data Acquisition and Backend Dataset Generation Framework for Smart Farming</a:t>
            </a:r>
            <a:endParaRPr lang="en-IN" sz="4000" b="1" u="sng" dirty="0">
              <a:solidFill>
                <a:schemeClr val="tx1">
                  <a:lumMod val="85000"/>
                  <a:lumOff val="15000"/>
                </a:schemeClr>
              </a:solidFill>
            </a:endParaRPr>
          </a:p>
        </p:txBody>
      </p:sp>
      <p:sp>
        <p:nvSpPr>
          <p:cNvPr id="3" name="Subtitle 2">
            <a:extLst>
              <a:ext uri="{FF2B5EF4-FFF2-40B4-BE49-F238E27FC236}">
                <a16:creationId xmlns:a16="http://schemas.microsoft.com/office/drawing/2014/main" id="{3CC6F6E1-4906-D231-94A2-80528C904150}"/>
              </a:ext>
            </a:extLst>
          </p:cNvPr>
          <p:cNvSpPr>
            <a:spLocks noGrp="1"/>
          </p:cNvSpPr>
          <p:nvPr>
            <p:ph type="subTitle" idx="1"/>
          </p:nvPr>
        </p:nvSpPr>
        <p:spPr>
          <a:xfrm>
            <a:off x="2877164" y="3661686"/>
            <a:ext cx="6437671" cy="3028336"/>
          </a:xfrm>
        </p:spPr>
        <p:txBody>
          <a:bodyPr>
            <a:normAutofit fontScale="85000" lnSpcReduction="20000"/>
          </a:bodyPr>
          <a:lstStyle/>
          <a:p>
            <a:pPr algn="l"/>
            <a:r>
              <a:rPr lang="en-US" dirty="0">
                <a:solidFill>
                  <a:schemeClr val="bg1"/>
                </a:solidFill>
                <a:latin typeface="Times New Roman" panose="02020603050405020304" pitchFamily="18" charset="0"/>
                <a:cs typeface="Times New Roman" panose="02020603050405020304" pitchFamily="18" charset="0"/>
              </a:rPr>
              <a:t>A Research Report</a:t>
            </a:r>
          </a:p>
          <a:p>
            <a:pPr algn="l"/>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Submitted by: YASH RAJ DASH</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Roll No: 122EC0126</a:t>
            </a:r>
          </a:p>
          <a:p>
            <a:pPr algn="l"/>
            <a:endParaRPr lang="en-US" dirty="0">
              <a:solidFill>
                <a:schemeClr val="bg1"/>
              </a:solidFill>
              <a:latin typeface="Times New Roman" panose="02020603050405020304" pitchFamily="18" charset="0"/>
              <a:cs typeface="Times New Roman" panose="02020603050405020304" pitchFamily="18" charset="0"/>
            </a:endParaRPr>
          </a:p>
          <a:p>
            <a:pPr algn="l"/>
            <a:r>
              <a:rPr lang="en-US" dirty="0">
                <a:solidFill>
                  <a:schemeClr val="bg1"/>
                </a:solidFill>
                <a:latin typeface="Times New Roman" panose="02020603050405020304" pitchFamily="18" charset="0"/>
                <a:cs typeface="Times New Roman" panose="02020603050405020304" pitchFamily="18" charset="0"/>
              </a:rPr>
              <a:t>Guided By: Prof. Santosh Kumar Das</a:t>
            </a:r>
          </a:p>
          <a:p>
            <a:pPr algn="l"/>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Department: Electronics and Communication Engineering</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Institution: National Institute of Technology, Rourkela</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Session: 2022-2026</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4" name="Picture 4" descr="National Institute of Technology, Rourkela - Wikipedia">
            <a:extLst>
              <a:ext uri="{FF2B5EF4-FFF2-40B4-BE49-F238E27FC236}">
                <a16:creationId xmlns:a16="http://schemas.microsoft.com/office/drawing/2014/main" id="{48C1F5DF-FED8-B887-64EE-FDA0BEE0A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9960" y="1860929"/>
            <a:ext cx="1694764" cy="1632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806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E65CF-A3D3-3895-2657-B3E1E0FD2CEB}"/>
              </a:ext>
            </a:extLst>
          </p:cNvPr>
          <p:cNvSpPr>
            <a:spLocks noGrp="1"/>
          </p:cNvSpPr>
          <p:nvPr>
            <p:ph type="title"/>
          </p:nvPr>
        </p:nvSpPr>
        <p:spPr>
          <a:xfrm>
            <a:off x="838200" y="99654"/>
            <a:ext cx="10515600" cy="1325563"/>
          </a:xfrm>
        </p:spPr>
        <p:txBody>
          <a:bodyPr/>
          <a:lstStyle/>
          <a:p>
            <a:r>
              <a:rPr lang="en-IN" u="sng" dirty="0">
                <a:solidFill>
                  <a:schemeClr val="tx1">
                    <a:lumMod val="65000"/>
                    <a:lumOff val="35000"/>
                  </a:schemeClr>
                </a:solidFill>
                <a:latin typeface="Times New Roman" panose="02020603050405020304" pitchFamily="18" charset="0"/>
                <a:cs typeface="Times New Roman" panose="02020603050405020304" pitchFamily="18" charset="0"/>
              </a:rPr>
              <a:t>Problems / Challenges</a:t>
            </a:r>
          </a:p>
        </p:txBody>
      </p:sp>
      <p:sp>
        <p:nvSpPr>
          <p:cNvPr id="3" name="Content Placeholder 2">
            <a:extLst>
              <a:ext uri="{FF2B5EF4-FFF2-40B4-BE49-F238E27FC236}">
                <a16:creationId xmlns:a16="http://schemas.microsoft.com/office/drawing/2014/main" id="{916032B9-66AA-01CF-3D79-BCBBD62DC09F}"/>
              </a:ext>
            </a:extLst>
          </p:cNvPr>
          <p:cNvSpPr>
            <a:spLocks noGrp="1"/>
          </p:cNvSpPr>
          <p:nvPr>
            <p:ph idx="1"/>
          </p:nvPr>
        </p:nvSpPr>
        <p:spPr>
          <a:xfrm>
            <a:off x="838200" y="1253331"/>
            <a:ext cx="10515600" cy="4351338"/>
          </a:xfrm>
        </p:spPr>
        <p:txBody>
          <a:bodyPr>
            <a:normAutofit fontScale="92500" lnSpcReduction="20000"/>
          </a:bodyPr>
          <a:lstStyle/>
          <a:p>
            <a:pPr algn="just"/>
            <a:r>
              <a:rPr lang="en-IN" dirty="0">
                <a:latin typeface="Times New Roman" panose="02020603050405020304" pitchFamily="18" charset="0"/>
                <a:cs typeface="Times New Roman" panose="02020603050405020304" pitchFamily="18" charset="0"/>
              </a:rPr>
              <a:t>Environmental and Agricultural Challenges: Climate variability, water scarcity, soil degradation, and unpredictable weather affect crop yield and quality.</a:t>
            </a:r>
          </a:p>
          <a:p>
            <a:pPr algn="just"/>
            <a:r>
              <a:rPr lang="en-IN" dirty="0">
                <a:latin typeface="Times New Roman" panose="02020603050405020304" pitchFamily="18" charset="0"/>
                <a:cs typeface="Times New Roman" panose="02020603050405020304" pitchFamily="18" charset="0"/>
              </a:rPr>
              <a:t>Technology Barriers: Small farmers face difficulty adopting smart farming due to the high cost and complexity of existing systems.</a:t>
            </a:r>
          </a:p>
          <a:p>
            <a:pPr algn="just"/>
            <a:r>
              <a:rPr lang="en-IN" dirty="0">
                <a:latin typeface="Times New Roman" panose="02020603050405020304" pitchFamily="18" charset="0"/>
                <a:cs typeface="Times New Roman" panose="02020603050405020304" pitchFamily="18" charset="0"/>
              </a:rPr>
              <a:t>Sensor Hardware Issues: Synchronizing multiple sensors with varied interfaces (</a:t>
            </a:r>
            <a:r>
              <a:rPr lang="en-IN" dirty="0" err="1">
                <a:latin typeface="Times New Roman" panose="02020603050405020304" pitchFamily="18" charset="0"/>
                <a:cs typeface="Times New Roman" panose="02020603050405020304" pitchFamily="18" charset="0"/>
              </a:rPr>
              <a:t>analog</a:t>
            </a:r>
            <a:r>
              <a:rPr lang="en-IN" dirty="0">
                <a:latin typeface="Times New Roman" panose="02020603050405020304" pitchFamily="18" charset="0"/>
                <a:cs typeface="Times New Roman" panose="02020603050405020304" pitchFamily="18" charset="0"/>
              </a:rPr>
              <a:t>, digital, UART) using Arduino microcontrollers.</a:t>
            </a:r>
          </a:p>
          <a:p>
            <a:pPr algn="just"/>
            <a:r>
              <a:rPr lang="en-IN" dirty="0">
                <a:latin typeface="Times New Roman" panose="02020603050405020304" pitchFamily="18" charset="0"/>
                <a:cs typeface="Times New Roman" panose="02020603050405020304" pitchFamily="18" charset="0"/>
              </a:rPr>
              <a:t>Data Quality and Real-time Communication: Ensuring stable, accurate sensor data acquisition and reliable Wi-Fi communication to cloud backend.</a:t>
            </a:r>
          </a:p>
          <a:p>
            <a:pPr algn="just"/>
            <a:r>
              <a:rPr lang="en-IN" dirty="0">
                <a:latin typeface="Times New Roman" panose="02020603050405020304" pitchFamily="18" charset="0"/>
                <a:cs typeface="Times New Roman" panose="02020603050405020304" pitchFamily="18" charset="0"/>
              </a:rPr>
              <a:t>Power Supply and Field Conditions: Maintaining hardware operation in outdoor field environments with stable power and weatherproofing.</a:t>
            </a:r>
          </a:p>
          <a:p>
            <a:pPr algn="just"/>
            <a:r>
              <a:rPr lang="en-IN" dirty="0">
                <a:latin typeface="Times New Roman" panose="02020603050405020304" pitchFamily="18" charset="0"/>
                <a:cs typeface="Times New Roman" panose="02020603050405020304" pitchFamily="18" charset="0"/>
              </a:rPr>
              <a:t>Software Challenges: Creating efficient Arduino firmware to manage sensor readings, calibration, data packaging (JSON), and error handling.</a:t>
            </a:r>
          </a:p>
        </p:txBody>
      </p:sp>
    </p:spTree>
    <p:extLst>
      <p:ext uri="{BB962C8B-B14F-4D97-AF65-F5344CB8AC3E}">
        <p14:creationId xmlns:p14="http://schemas.microsoft.com/office/powerpoint/2010/main" val="2555526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E6CA4-84E2-7BC5-CEF0-98E704BD2A3B}"/>
              </a:ext>
            </a:extLst>
          </p:cNvPr>
          <p:cNvSpPr>
            <a:spLocks noGrp="1"/>
          </p:cNvSpPr>
          <p:nvPr>
            <p:ph type="title"/>
          </p:nvPr>
        </p:nvSpPr>
        <p:spPr>
          <a:xfrm>
            <a:off x="838200" y="18255"/>
            <a:ext cx="10515600" cy="817487"/>
          </a:xfrm>
        </p:spPr>
        <p:txBody>
          <a:bodyPr>
            <a:normAutofit/>
          </a:bodyPr>
          <a:lstStyle/>
          <a:p>
            <a:r>
              <a:rPr lang="en-IN" sz="4000" u="sng" dirty="0">
                <a:solidFill>
                  <a:schemeClr val="tx1">
                    <a:lumMod val="65000"/>
                    <a:lumOff val="35000"/>
                  </a:schemeClr>
                </a:solidFill>
                <a:latin typeface="Times New Roman" panose="02020603050405020304" pitchFamily="18" charset="0"/>
                <a:cs typeface="Times New Roman" panose="02020603050405020304" pitchFamily="18" charset="0"/>
              </a:rPr>
              <a:t>System Architecture of </a:t>
            </a:r>
            <a:r>
              <a:rPr lang="en-IN" sz="4000" u="sng" dirty="0" err="1">
                <a:solidFill>
                  <a:schemeClr val="tx1">
                    <a:lumMod val="65000"/>
                    <a:lumOff val="35000"/>
                  </a:schemeClr>
                </a:solidFill>
                <a:latin typeface="Times New Roman" panose="02020603050405020304" pitchFamily="18" charset="0"/>
                <a:cs typeface="Times New Roman" panose="02020603050405020304" pitchFamily="18" charset="0"/>
              </a:rPr>
              <a:t>AgroSphere</a:t>
            </a:r>
            <a:endParaRPr lang="en-IN" sz="4000"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63B071-54BD-A85F-301E-B55F01E3D466}"/>
              </a:ext>
            </a:extLst>
          </p:cNvPr>
          <p:cNvSpPr>
            <a:spLocks noGrp="1"/>
          </p:cNvSpPr>
          <p:nvPr>
            <p:ph idx="1"/>
          </p:nvPr>
        </p:nvSpPr>
        <p:spPr>
          <a:xfrm>
            <a:off x="193673" y="835741"/>
            <a:ext cx="5902327" cy="5761703"/>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Data Acquisition: The system collects both general/static information (government policies, market trends, past yields, seed/fertilizer/pesticide options, and farmer records) and real-time field data (from drones, weather stations, water and soil quality sensors).</a:t>
            </a:r>
          </a:p>
          <a:p>
            <a:pPr algn="just"/>
            <a:r>
              <a:rPr lang="en-US" dirty="0">
                <a:latin typeface="Times New Roman" panose="02020603050405020304" pitchFamily="18" charset="0"/>
                <a:cs typeface="Times New Roman" panose="02020603050405020304" pitchFamily="18" charset="0"/>
              </a:rPr>
              <a:t>Central Processing (IoT): All gathered data is sent to a central AI engine, which can also process farmer queries directly. This engine uses both historical and live information to analyze conditions and determine best practices.</a:t>
            </a:r>
          </a:p>
          <a:p>
            <a:pPr algn="just"/>
            <a:r>
              <a:rPr lang="en-US" dirty="0">
                <a:latin typeface="Times New Roman" panose="02020603050405020304" pitchFamily="18" charset="0"/>
                <a:cs typeface="Times New Roman" panose="02020603050405020304" pitchFamily="18" charset="0"/>
              </a:rPr>
              <a:t>Decision Support &amp; Response: The system delivers tailored recommendations and actionable responses—including crop, fertilizer, and pesticide selection, as well as information on value addition, equipment, logistics, and marketing—to support farmers at every step from cultivation to market.</a:t>
            </a:r>
          </a:p>
        </p:txBody>
      </p:sp>
      <p:pic>
        <p:nvPicPr>
          <p:cNvPr id="4" name="Picture 3" descr="C:\Users\HP\Desktop\Kisan Saathi\WhatsApp Image 2023-10-21 at 1.22.06 PM.jpeg">
            <a:extLst>
              <a:ext uri="{FF2B5EF4-FFF2-40B4-BE49-F238E27FC236}">
                <a16:creationId xmlns:a16="http://schemas.microsoft.com/office/drawing/2014/main" id="{E492CF1A-F6CA-A9B7-664F-9CCC45671CC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326732" y="835742"/>
            <a:ext cx="5760085" cy="3474085"/>
          </a:xfrm>
          <a:prstGeom prst="rect">
            <a:avLst/>
          </a:prstGeom>
          <a:noFill/>
          <a:ln>
            <a:noFill/>
          </a:ln>
        </p:spPr>
      </p:pic>
      <p:sp>
        <p:nvSpPr>
          <p:cNvPr id="5" name="TextBox 4">
            <a:extLst>
              <a:ext uri="{FF2B5EF4-FFF2-40B4-BE49-F238E27FC236}">
                <a16:creationId xmlns:a16="http://schemas.microsoft.com/office/drawing/2014/main" id="{938153E1-DDF5-7F57-858B-1A02D7A9CBD4}"/>
              </a:ext>
            </a:extLst>
          </p:cNvPr>
          <p:cNvSpPr txBox="1"/>
          <p:nvPr/>
        </p:nvSpPr>
        <p:spPr>
          <a:xfrm>
            <a:off x="6415222" y="4631030"/>
            <a:ext cx="5671595" cy="584775"/>
          </a:xfrm>
          <a:prstGeom prst="rect">
            <a:avLst/>
          </a:prstGeom>
          <a:noFill/>
        </p:spPr>
        <p:txBody>
          <a:bodyPr wrap="square" rtlCol="0">
            <a:spAutoFit/>
          </a:bodyPr>
          <a:lstStyle/>
          <a:p>
            <a:pPr algn="ctr"/>
            <a:r>
              <a:rPr lang="en-IN" sz="1600" i="1" u="sng" dirty="0">
                <a:latin typeface="Times New Roman" panose="02020603050405020304" pitchFamily="18" charset="0"/>
                <a:cs typeface="Times New Roman" panose="02020603050405020304" pitchFamily="18" charset="0"/>
              </a:rPr>
              <a:t>Figure 1: </a:t>
            </a:r>
            <a:r>
              <a:rPr lang="en-US" sz="1600" i="1" u="sng" dirty="0">
                <a:latin typeface="Times New Roman" panose="02020603050405020304" pitchFamily="18" charset="0"/>
                <a:cs typeface="Times New Roman" panose="02020603050405020304" pitchFamily="18" charset="0"/>
              </a:rPr>
              <a:t>Integrated Data Processing and Response Architecture for Smart Agriculture</a:t>
            </a:r>
            <a:endParaRPr lang="en-IN" sz="1600" i="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8320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HP\Desktop\Kisan Saathi\WhatsApp Image 2023-10-21 at 1.15.45 PM (1).jpeg">
            <a:extLst>
              <a:ext uri="{FF2B5EF4-FFF2-40B4-BE49-F238E27FC236}">
                <a16:creationId xmlns:a16="http://schemas.microsoft.com/office/drawing/2014/main" id="{ED2260FA-5D4A-9284-9060-85673820718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37845" y="686404"/>
            <a:ext cx="4600403" cy="2718674"/>
          </a:xfrm>
          <a:prstGeom prst="rect">
            <a:avLst/>
          </a:prstGeom>
          <a:noFill/>
          <a:ln>
            <a:noFill/>
          </a:ln>
        </p:spPr>
      </p:pic>
      <p:pic>
        <p:nvPicPr>
          <p:cNvPr id="3" name="Picture 2" descr="C:\Users\HP\Desktop\Kisan Saathi\WhatsApp Image 2023-10-21 at 1.15.45 PM (2).jpeg">
            <a:extLst>
              <a:ext uri="{FF2B5EF4-FFF2-40B4-BE49-F238E27FC236}">
                <a16:creationId xmlns:a16="http://schemas.microsoft.com/office/drawing/2014/main" id="{B1898C4D-B632-1DCA-12E2-7AB0FD2A040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757021" y="718089"/>
            <a:ext cx="4949418" cy="2614487"/>
          </a:xfrm>
          <a:prstGeom prst="rect">
            <a:avLst/>
          </a:prstGeom>
          <a:noFill/>
          <a:ln>
            <a:noFill/>
          </a:ln>
        </p:spPr>
      </p:pic>
      <p:pic>
        <p:nvPicPr>
          <p:cNvPr id="4" name="Picture 3" descr="C:\Users\HP\Desktop\Kisan Saathi\WhatsApp Image 2023-10-21 at 1.15.45 PM.jpeg">
            <a:extLst>
              <a:ext uri="{FF2B5EF4-FFF2-40B4-BE49-F238E27FC236}">
                <a16:creationId xmlns:a16="http://schemas.microsoft.com/office/drawing/2014/main" id="{44CB9AF0-54C1-850F-6E93-800508AC3B7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710334" y="3818892"/>
            <a:ext cx="4771332" cy="2584749"/>
          </a:xfrm>
          <a:prstGeom prst="rect">
            <a:avLst/>
          </a:prstGeom>
          <a:noFill/>
          <a:ln>
            <a:noFill/>
          </a:ln>
        </p:spPr>
      </p:pic>
      <p:sp>
        <p:nvSpPr>
          <p:cNvPr id="5" name="TextBox 4">
            <a:extLst>
              <a:ext uri="{FF2B5EF4-FFF2-40B4-BE49-F238E27FC236}">
                <a16:creationId xmlns:a16="http://schemas.microsoft.com/office/drawing/2014/main" id="{3884A048-661D-503E-001F-6B9D76C86DA4}"/>
              </a:ext>
            </a:extLst>
          </p:cNvPr>
          <p:cNvSpPr txBox="1"/>
          <p:nvPr/>
        </p:nvSpPr>
        <p:spPr>
          <a:xfrm>
            <a:off x="859188" y="-21482"/>
            <a:ext cx="6811959" cy="707886"/>
          </a:xfrm>
          <a:prstGeom prst="rect">
            <a:avLst/>
          </a:prstGeom>
          <a:noFill/>
        </p:spPr>
        <p:txBody>
          <a:bodyPr wrap="square" rtlCol="0">
            <a:spAutoFit/>
          </a:bodyPr>
          <a:lstStyle/>
          <a:p>
            <a:r>
              <a:rPr lang="en-IN" sz="4000" u="sng" dirty="0">
                <a:solidFill>
                  <a:schemeClr val="tx1">
                    <a:lumMod val="65000"/>
                    <a:lumOff val="35000"/>
                  </a:schemeClr>
                </a:solidFill>
                <a:latin typeface="Times New Roman" panose="02020603050405020304" pitchFamily="18" charset="0"/>
                <a:cs typeface="Times New Roman" panose="02020603050405020304" pitchFamily="18" charset="0"/>
              </a:rPr>
              <a:t>Hardware Components</a:t>
            </a:r>
          </a:p>
        </p:txBody>
      </p:sp>
      <p:sp>
        <p:nvSpPr>
          <p:cNvPr id="9" name="TextBox 8">
            <a:extLst>
              <a:ext uri="{FF2B5EF4-FFF2-40B4-BE49-F238E27FC236}">
                <a16:creationId xmlns:a16="http://schemas.microsoft.com/office/drawing/2014/main" id="{0FD04EDB-FCD3-5F07-65A7-375A09D47713}"/>
              </a:ext>
            </a:extLst>
          </p:cNvPr>
          <p:cNvSpPr txBox="1"/>
          <p:nvPr/>
        </p:nvSpPr>
        <p:spPr>
          <a:xfrm>
            <a:off x="1170039" y="3429000"/>
            <a:ext cx="3529780" cy="338554"/>
          </a:xfrm>
          <a:prstGeom prst="rect">
            <a:avLst/>
          </a:prstGeom>
          <a:noFill/>
        </p:spPr>
        <p:txBody>
          <a:bodyPr wrap="square" rtlCol="0">
            <a:spAutoFit/>
          </a:bodyPr>
          <a:lstStyle/>
          <a:p>
            <a:pPr algn="ctr"/>
            <a:r>
              <a:rPr lang="en-IN" sz="1600" i="1" u="sng" dirty="0">
                <a:latin typeface="Times New Roman" panose="02020603050405020304" pitchFamily="18" charset="0"/>
                <a:cs typeface="Times New Roman" panose="02020603050405020304" pitchFamily="18" charset="0"/>
              </a:rPr>
              <a:t>Figure 2: Soil Quality Components</a:t>
            </a:r>
          </a:p>
        </p:txBody>
      </p:sp>
      <p:sp>
        <p:nvSpPr>
          <p:cNvPr id="10" name="TextBox 9">
            <a:extLst>
              <a:ext uri="{FF2B5EF4-FFF2-40B4-BE49-F238E27FC236}">
                <a16:creationId xmlns:a16="http://schemas.microsoft.com/office/drawing/2014/main" id="{08FE9D2A-4400-CAD8-0FA2-A3A9441DA856}"/>
              </a:ext>
            </a:extLst>
          </p:cNvPr>
          <p:cNvSpPr txBox="1"/>
          <p:nvPr/>
        </p:nvSpPr>
        <p:spPr>
          <a:xfrm>
            <a:off x="4154432" y="6403641"/>
            <a:ext cx="3529780" cy="338554"/>
          </a:xfrm>
          <a:prstGeom prst="rect">
            <a:avLst/>
          </a:prstGeom>
          <a:noFill/>
        </p:spPr>
        <p:txBody>
          <a:bodyPr wrap="square" rtlCol="0">
            <a:spAutoFit/>
          </a:bodyPr>
          <a:lstStyle/>
          <a:p>
            <a:pPr algn="ctr"/>
            <a:r>
              <a:rPr lang="en-IN" sz="1600" i="1" u="sng" dirty="0">
                <a:latin typeface="Times New Roman" panose="02020603050405020304" pitchFamily="18" charset="0"/>
                <a:cs typeface="Times New Roman" panose="02020603050405020304" pitchFamily="18" charset="0"/>
              </a:rPr>
              <a:t>Figure 4: Weather Quality Components</a:t>
            </a:r>
          </a:p>
        </p:txBody>
      </p:sp>
      <p:sp>
        <p:nvSpPr>
          <p:cNvPr id="11" name="TextBox 10">
            <a:extLst>
              <a:ext uri="{FF2B5EF4-FFF2-40B4-BE49-F238E27FC236}">
                <a16:creationId xmlns:a16="http://schemas.microsoft.com/office/drawing/2014/main" id="{C85EC29F-2270-5220-5C9A-7FAC2938F39C}"/>
              </a:ext>
            </a:extLst>
          </p:cNvPr>
          <p:cNvSpPr txBox="1"/>
          <p:nvPr/>
        </p:nvSpPr>
        <p:spPr>
          <a:xfrm>
            <a:off x="7466840" y="3387842"/>
            <a:ext cx="3529780" cy="338554"/>
          </a:xfrm>
          <a:prstGeom prst="rect">
            <a:avLst/>
          </a:prstGeom>
          <a:noFill/>
        </p:spPr>
        <p:txBody>
          <a:bodyPr wrap="square" rtlCol="0">
            <a:spAutoFit/>
          </a:bodyPr>
          <a:lstStyle/>
          <a:p>
            <a:pPr algn="ctr"/>
            <a:r>
              <a:rPr lang="en-IN" sz="1600" i="1" u="sng" dirty="0">
                <a:latin typeface="Times New Roman" panose="02020603050405020304" pitchFamily="18" charset="0"/>
                <a:cs typeface="Times New Roman" panose="02020603050405020304" pitchFamily="18" charset="0"/>
              </a:rPr>
              <a:t>Figure 3: Water Quality Components</a:t>
            </a:r>
          </a:p>
        </p:txBody>
      </p:sp>
    </p:spTree>
    <p:extLst>
      <p:ext uri="{BB962C8B-B14F-4D97-AF65-F5344CB8AC3E}">
        <p14:creationId xmlns:p14="http://schemas.microsoft.com/office/powerpoint/2010/main" val="2941154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D3B684C-F504-F429-47A4-EFB5349AEED1}"/>
              </a:ext>
            </a:extLst>
          </p:cNvPr>
          <p:cNvSpPr txBox="1"/>
          <p:nvPr/>
        </p:nvSpPr>
        <p:spPr>
          <a:xfrm>
            <a:off x="265471" y="889843"/>
            <a:ext cx="11661058" cy="5078313"/>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1. Data Collection</a:t>
            </a:r>
          </a:p>
          <a:p>
            <a:pPr algn="just"/>
            <a:r>
              <a:rPr lang="en-US" dirty="0">
                <a:latin typeface="Times New Roman" panose="02020603050405020304" pitchFamily="18" charset="0"/>
                <a:cs typeface="Times New Roman" panose="02020603050405020304" pitchFamily="18" charset="0"/>
              </a:rPr>
              <a:t>Sensors deployed in the field continuously measure key environmental and soil parameters such as temperature, humidity, moisture, pH, and nutrient levels (NPK).Additionally, farmers can manually input information related to crop type, irrigation schedules, and local observations . These combined datasets create a comprehensive, real-time understanding of field conditions and crop health.</a:t>
            </a:r>
          </a:p>
          <a:p>
            <a:pPr algn="just"/>
            <a:r>
              <a:rPr lang="en-US" b="1" dirty="0">
                <a:latin typeface="Times New Roman" panose="02020603050405020304" pitchFamily="18" charset="0"/>
                <a:cs typeface="Times New Roman" panose="02020603050405020304" pitchFamily="18" charset="0"/>
              </a:rPr>
              <a:t>2. Data Analysis</a:t>
            </a:r>
          </a:p>
          <a:p>
            <a:pPr algn="just"/>
            <a:r>
              <a:rPr lang="en-US" dirty="0">
                <a:latin typeface="Times New Roman" panose="02020603050405020304" pitchFamily="18" charset="0"/>
                <a:cs typeface="Times New Roman" panose="02020603050405020304" pitchFamily="18" charset="0"/>
              </a:rPr>
              <a:t>All collected data is transmitted to the AI-enabled backend, where it undergoes preprocessing, filtering, and validation.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Machine learning models then analyze the data to identify trends, detect anomalies, and generate personalized recommendations . The system also predicts weather-related risks and provides alerts related to irrigation, fertilization, or disease possibilities.</a:t>
            </a:r>
          </a:p>
          <a:p>
            <a:pPr algn="just"/>
            <a:r>
              <a:rPr lang="en-US" b="1" dirty="0">
                <a:latin typeface="Times New Roman" panose="02020603050405020304" pitchFamily="18" charset="0"/>
                <a:cs typeface="Times New Roman" panose="02020603050405020304" pitchFamily="18" charset="0"/>
              </a:rPr>
              <a:t>3. Farmer Support</a:t>
            </a:r>
          </a:p>
          <a:p>
            <a:pPr algn="just"/>
            <a:r>
              <a:rPr lang="en-US" dirty="0">
                <a:latin typeface="Times New Roman" panose="02020603050405020304" pitchFamily="18" charset="0"/>
                <a:cs typeface="Times New Roman" panose="02020603050405020304" pitchFamily="18" charset="0"/>
              </a:rPr>
              <a:t>The processed insights are delivered to the farmer through a user-friendly mobile or web application.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platform presents easy-to-understand dashboards, forecasts, and alerts, enabling farmers to make quick and informed decisions . This includes guidance on optimal watering times, crop suitability, nutrient correction, and best market timing.</a:t>
            </a:r>
          </a:p>
          <a:p>
            <a:pPr algn="just"/>
            <a:r>
              <a:rPr lang="en-US" b="1" dirty="0">
                <a:latin typeface="Times New Roman" panose="02020603050405020304" pitchFamily="18" charset="0"/>
                <a:cs typeface="Times New Roman" panose="02020603050405020304" pitchFamily="18" charset="0"/>
              </a:rPr>
              <a:t>4. Marketplace Engagement</a:t>
            </a:r>
          </a:p>
          <a:p>
            <a:pPr algn="just"/>
            <a:r>
              <a:rPr lang="en-US" dirty="0">
                <a:latin typeface="Times New Roman" panose="02020603050405020304" pitchFamily="18" charset="0"/>
                <a:cs typeface="Times New Roman" panose="02020603050405020304" pitchFamily="18" charset="0"/>
              </a:rPr>
              <a:t>Once crops are ready for sale, the system connects farmers to a digital marketplace . Here, farmers can list their produce, compare real-time market prices, and sell directly to buyers . This ensures transparency, reduces middlemen, and allows farmers to gain fair and improved pricing for their harvest</a:t>
            </a:r>
          </a:p>
        </p:txBody>
      </p:sp>
      <p:sp>
        <p:nvSpPr>
          <p:cNvPr id="2" name="TextBox 1">
            <a:extLst>
              <a:ext uri="{FF2B5EF4-FFF2-40B4-BE49-F238E27FC236}">
                <a16:creationId xmlns:a16="http://schemas.microsoft.com/office/drawing/2014/main" id="{997F9B56-1EF8-07E0-8CAA-B2424E84C6E5}"/>
              </a:ext>
            </a:extLst>
          </p:cNvPr>
          <p:cNvSpPr txBox="1"/>
          <p:nvPr/>
        </p:nvSpPr>
        <p:spPr>
          <a:xfrm>
            <a:off x="1592826" y="167148"/>
            <a:ext cx="6027174" cy="707886"/>
          </a:xfrm>
          <a:prstGeom prst="rect">
            <a:avLst/>
          </a:prstGeom>
          <a:noFill/>
        </p:spPr>
        <p:txBody>
          <a:bodyPr wrap="square" rtlCol="0">
            <a:spAutoFit/>
          </a:bodyPr>
          <a:lstStyle/>
          <a:p>
            <a:r>
              <a:rPr lang="en-IN" sz="4000" u="sng" dirty="0">
                <a:solidFill>
                  <a:schemeClr val="tx1">
                    <a:lumMod val="65000"/>
                    <a:lumOff val="35000"/>
                  </a:schemeClr>
                </a:solidFill>
                <a:latin typeface="Times New Roman" panose="02020603050405020304" pitchFamily="18" charset="0"/>
                <a:cs typeface="Times New Roman" panose="02020603050405020304" pitchFamily="18" charset="0"/>
              </a:rPr>
              <a:t>WORKING MECHANISM</a:t>
            </a:r>
          </a:p>
        </p:txBody>
      </p:sp>
    </p:spTree>
    <p:extLst>
      <p:ext uri="{BB962C8B-B14F-4D97-AF65-F5344CB8AC3E}">
        <p14:creationId xmlns:p14="http://schemas.microsoft.com/office/powerpoint/2010/main" val="138871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D4B1B-487A-9C2C-223B-FEDC4908E1A5}"/>
              </a:ext>
            </a:extLst>
          </p:cNvPr>
          <p:cNvSpPr>
            <a:spLocks noGrp="1"/>
          </p:cNvSpPr>
          <p:nvPr>
            <p:ph type="title"/>
          </p:nvPr>
        </p:nvSpPr>
        <p:spPr/>
        <p:txBody>
          <a:bodyPr/>
          <a:lstStyle/>
          <a:p>
            <a:r>
              <a:rPr lang="en-IN" u="sng" dirty="0">
                <a:solidFill>
                  <a:schemeClr val="tx1">
                    <a:lumMod val="65000"/>
                    <a:lumOff val="35000"/>
                  </a:schemeClr>
                </a:solidFill>
                <a:latin typeface="Times New Roman" panose="02020603050405020304" pitchFamily="18" charset="0"/>
                <a:cs typeface="Times New Roman" panose="02020603050405020304" pitchFamily="18" charset="0"/>
              </a:rPr>
              <a:t>System Implementation</a:t>
            </a:r>
          </a:p>
        </p:txBody>
      </p:sp>
      <p:sp>
        <p:nvSpPr>
          <p:cNvPr id="3" name="Content Placeholder 2">
            <a:extLst>
              <a:ext uri="{FF2B5EF4-FFF2-40B4-BE49-F238E27FC236}">
                <a16:creationId xmlns:a16="http://schemas.microsoft.com/office/drawing/2014/main" id="{B143B024-5052-D420-9688-0B84BE9BA5F6}"/>
              </a:ext>
            </a:extLst>
          </p:cNvPr>
          <p:cNvSpPr>
            <a:spLocks noGrp="1"/>
          </p:cNvSpPr>
          <p:nvPr>
            <p:ph idx="1"/>
          </p:nvPr>
        </p:nvSpPr>
        <p:spPr>
          <a:xfrm>
            <a:off x="838200" y="1953445"/>
            <a:ext cx="10515600" cy="4351338"/>
          </a:xfrm>
        </p:spPr>
        <p:txBody>
          <a:bodyPr>
            <a:normAutofit fontScale="85000" lnSpcReduction="20000"/>
          </a:bodyPr>
          <a:lstStyle/>
          <a:p>
            <a:pPr marL="514350" indent="-514350" algn="just">
              <a:buFont typeface="+mj-lt"/>
              <a:buAutoNum type="arabicPeriod"/>
            </a:pPr>
            <a:r>
              <a:rPr lang="en-IN" b="1" dirty="0">
                <a:latin typeface="Times New Roman" panose="02020603050405020304" pitchFamily="18" charset="0"/>
                <a:cs typeface="Times New Roman" panose="02020603050405020304" pitchFamily="18" charset="0"/>
              </a:rPr>
              <a:t>Hardware Development: </a:t>
            </a:r>
            <a:r>
              <a:rPr lang="en-IN" dirty="0">
                <a:latin typeface="Times New Roman" panose="02020603050405020304" pitchFamily="18" charset="0"/>
                <a:cs typeface="Times New Roman" panose="02020603050405020304" pitchFamily="18" charset="0"/>
              </a:rPr>
              <a:t>Designed Arduino-based sensor nodes with multiple sensors (soil moisture, pH, NPK, turbidity, rainfall) to capture key parameters.</a:t>
            </a:r>
          </a:p>
          <a:p>
            <a:pPr marL="514350" indent="-514350" algn="just">
              <a:buFont typeface="+mj-lt"/>
              <a:buAutoNum type="arabicPeriod"/>
            </a:pPr>
            <a:r>
              <a:rPr lang="en-IN" b="1" dirty="0">
                <a:latin typeface="Times New Roman" panose="02020603050405020304" pitchFamily="18" charset="0"/>
                <a:cs typeface="Times New Roman" panose="02020603050405020304" pitchFamily="18" charset="0"/>
              </a:rPr>
              <a:t>Firmware Implementation: </a:t>
            </a:r>
            <a:r>
              <a:rPr lang="en-IN" dirty="0">
                <a:latin typeface="Times New Roman" panose="02020603050405020304" pitchFamily="18" charset="0"/>
                <a:cs typeface="Times New Roman" panose="02020603050405020304" pitchFamily="18" charset="0"/>
              </a:rPr>
              <a:t>Developed firmware in Arduino IDE for synchronized sensor data acquisition, calibration, packaging data as JSON for cloud upload, and managing Wi-Fi connectivity including robust error handling.</a:t>
            </a:r>
          </a:p>
          <a:p>
            <a:pPr marL="514350" indent="-514350" algn="just">
              <a:buFont typeface="+mj-lt"/>
              <a:buAutoNum type="arabicPeriod"/>
            </a:pPr>
            <a:r>
              <a:rPr lang="en-IN" b="1" dirty="0">
                <a:latin typeface="Times New Roman" panose="02020603050405020304" pitchFamily="18" charset="0"/>
                <a:cs typeface="Times New Roman" panose="02020603050405020304" pitchFamily="18" charset="0"/>
              </a:rPr>
              <a:t>Cloud and AI Integration: </a:t>
            </a:r>
            <a:r>
              <a:rPr lang="en-IN" dirty="0">
                <a:latin typeface="Times New Roman" panose="02020603050405020304" pitchFamily="18" charset="0"/>
                <a:cs typeface="Times New Roman" panose="02020603050405020304" pitchFamily="18" charset="0"/>
              </a:rPr>
              <a:t>Transmitted data over Wi-Fi to a cloud backend running REST APIs, structured databases, and ML models for crop recommendation and monitoring.</a:t>
            </a:r>
          </a:p>
          <a:p>
            <a:pPr marL="514350" indent="-514350" algn="just">
              <a:buFont typeface="+mj-lt"/>
              <a:buAutoNum type="arabicPeriod"/>
            </a:pPr>
            <a:r>
              <a:rPr lang="en-IN" b="1" dirty="0">
                <a:latin typeface="Times New Roman" panose="02020603050405020304" pitchFamily="18" charset="0"/>
                <a:cs typeface="Times New Roman" panose="02020603050405020304" pitchFamily="18" charset="0"/>
              </a:rPr>
              <a:t>User Interface: </a:t>
            </a:r>
            <a:r>
              <a:rPr lang="en-IN" dirty="0">
                <a:latin typeface="Times New Roman" panose="02020603050405020304" pitchFamily="18" charset="0"/>
                <a:cs typeface="Times New Roman" panose="02020603050405020304" pitchFamily="18" charset="0"/>
              </a:rPr>
              <a:t>Developing a web dashboard for real-time visualization and actionable insights accessible to farmers.</a:t>
            </a:r>
          </a:p>
          <a:p>
            <a:pPr marL="514350" indent="-514350" algn="just">
              <a:buFont typeface="+mj-lt"/>
              <a:buAutoNum type="arabicPeriod"/>
            </a:pPr>
            <a:r>
              <a:rPr lang="en-IN" b="1" dirty="0">
                <a:latin typeface="Times New Roman" panose="02020603050405020304" pitchFamily="18" charset="0"/>
                <a:cs typeface="Times New Roman" panose="02020603050405020304" pitchFamily="18" charset="0"/>
              </a:rPr>
              <a:t>Iterative Testing and Calibration: </a:t>
            </a:r>
            <a:r>
              <a:rPr lang="en-IN" dirty="0">
                <a:latin typeface="Times New Roman" panose="02020603050405020304" pitchFamily="18" charset="0"/>
                <a:cs typeface="Times New Roman" panose="02020603050405020304" pitchFamily="18" charset="0"/>
              </a:rPr>
              <a:t>Conducted extensive hardware calibration and software debugging using Arduino serial monitor and network debugging tools.</a:t>
            </a:r>
          </a:p>
        </p:txBody>
      </p:sp>
    </p:spTree>
    <p:extLst>
      <p:ext uri="{BB962C8B-B14F-4D97-AF65-F5344CB8AC3E}">
        <p14:creationId xmlns:p14="http://schemas.microsoft.com/office/powerpoint/2010/main" val="1130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4492C541-A5DE-6DBE-3BAA-529546EB738D}"/>
              </a:ext>
            </a:extLst>
          </p:cNvPr>
          <p:cNvSpPr txBox="1"/>
          <p:nvPr/>
        </p:nvSpPr>
        <p:spPr>
          <a:xfrm>
            <a:off x="88490" y="186813"/>
            <a:ext cx="12103510" cy="707886"/>
          </a:xfrm>
          <a:prstGeom prst="rect">
            <a:avLst/>
          </a:prstGeom>
          <a:noFill/>
        </p:spPr>
        <p:txBody>
          <a:bodyPr wrap="square" rtlCol="0">
            <a:spAutoFit/>
          </a:bodyPr>
          <a:lstStyle/>
          <a:p>
            <a:r>
              <a:rPr lang="en-US" sz="4000" u="sng" dirty="0">
                <a:solidFill>
                  <a:schemeClr val="tx1">
                    <a:lumMod val="65000"/>
                    <a:lumOff val="35000"/>
                  </a:schemeClr>
                </a:solidFill>
                <a:latin typeface="Times New Roman" panose="02020603050405020304" pitchFamily="18" charset="0"/>
                <a:cs typeface="Times New Roman" panose="02020603050405020304" pitchFamily="18" charset="0"/>
              </a:rPr>
              <a:t>Example Experimental Setup (Water Quality Monitoring)</a:t>
            </a:r>
            <a:endParaRPr lang="en-IN" sz="4000"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pic>
        <p:nvPicPr>
          <p:cNvPr id="26" name="Picture 25">
            <a:extLst>
              <a:ext uri="{FF2B5EF4-FFF2-40B4-BE49-F238E27FC236}">
                <a16:creationId xmlns:a16="http://schemas.microsoft.com/office/drawing/2014/main" id="{FFFF62EC-399E-BA3F-FFD2-3D27FAD84BC9}"/>
              </a:ext>
            </a:extLst>
          </p:cNvPr>
          <p:cNvPicPr>
            <a:picLocks noChangeAspect="1"/>
          </p:cNvPicPr>
          <p:nvPr/>
        </p:nvPicPr>
        <p:blipFill>
          <a:blip r:embed="rId2"/>
          <a:stretch>
            <a:fillRect/>
          </a:stretch>
        </p:blipFill>
        <p:spPr>
          <a:xfrm>
            <a:off x="148836" y="78957"/>
            <a:ext cx="11894327" cy="6700085"/>
          </a:xfrm>
          <a:prstGeom prst="rect">
            <a:avLst/>
          </a:prstGeom>
        </p:spPr>
      </p:pic>
    </p:spTree>
    <p:extLst>
      <p:ext uri="{BB962C8B-B14F-4D97-AF65-F5344CB8AC3E}">
        <p14:creationId xmlns:p14="http://schemas.microsoft.com/office/powerpoint/2010/main" val="4211641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ED6DD63-8716-0BA8-A98A-6EC04C79F8ED}"/>
              </a:ext>
            </a:extLst>
          </p:cNvPr>
          <p:cNvPicPr>
            <a:picLocks noChangeAspect="1"/>
          </p:cNvPicPr>
          <p:nvPr/>
        </p:nvPicPr>
        <p:blipFill>
          <a:blip r:embed="rId2">
            <a:extLst>
              <a:ext uri="{28A0092B-C50C-407E-A947-70E740481C1C}">
                <a14:useLocalDpi xmlns:a14="http://schemas.microsoft.com/office/drawing/2010/main" val="0"/>
              </a:ext>
            </a:extLst>
          </a:blip>
          <a:srcRect t="19641" b="13262"/>
          <a:stretch>
            <a:fillRect/>
          </a:stretch>
        </p:blipFill>
        <p:spPr>
          <a:xfrm>
            <a:off x="189408" y="0"/>
            <a:ext cx="5906592" cy="3431883"/>
          </a:xfrm>
          <a:prstGeom prst="rect">
            <a:avLst/>
          </a:prstGeom>
        </p:spPr>
      </p:pic>
      <p:pic>
        <p:nvPicPr>
          <p:cNvPr id="16" name="Picture 15">
            <a:extLst>
              <a:ext uri="{FF2B5EF4-FFF2-40B4-BE49-F238E27FC236}">
                <a16:creationId xmlns:a16="http://schemas.microsoft.com/office/drawing/2014/main" id="{8A13F00B-A967-550A-32E2-4A133DED5F9E}"/>
              </a:ext>
            </a:extLst>
          </p:cNvPr>
          <p:cNvPicPr>
            <a:picLocks noChangeAspect="1"/>
          </p:cNvPicPr>
          <p:nvPr/>
        </p:nvPicPr>
        <p:blipFill>
          <a:blip r:embed="rId3">
            <a:extLst>
              <a:ext uri="{28A0092B-C50C-407E-A947-70E740481C1C}">
                <a14:useLocalDpi xmlns:a14="http://schemas.microsoft.com/office/drawing/2010/main" val="0"/>
              </a:ext>
            </a:extLst>
          </a:blip>
          <a:srcRect l="5086" t="21008"/>
          <a:stretch>
            <a:fillRect/>
          </a:stretch>
        </p:blipFill>
        <p:spPr>
          <a:xfrm>
            <a:off x="189408" y="3539614"/>
            <a:ext cx="5775917" cy="3242322"/>
          </a:xfrm>
          <a:prstGeom prst="rect">
            <a:avLst/>
          </a:prstGeom>
        </p:spPr>
      </p:pic>
      <p:cxnSp>
        <p:nvCxnSpPr>
          <p:cNvPr id="18" name="Straight Connector 17">
            <a:extLst>
              <a:ext uri="{FF2B5EF4-FFF2-40B4-BE49-F238E27FC236}">
                <a16:creationId xmlns:a16="http://schemas.microsoft.com/office/drawing/2014/main" id="{40C3A5DC-20ED-0834-2FE1-77BE64E2ADF6}"/>
              </a:ext>
            </a:extLst>
          </p:cNvPr>
          <p:cNvCxnSpPr>
            <a:cxnSpLocks/>
          </p:cNvCxnSpPr>
          <p:nvPr/>
        </p:nvCxnSpPr>
        <p:spPr>
          <a:xfrm>
            <a:off x="-39329" y="3429000"/>
            <a:ext cx="1227065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FAC9093-B6B0-BA83-02FA-6BDBBE383BF5}"/>
              </a:ext>
            </a:extLst>
          </p:cNvPr>
          <p:cNvSpPr txBox="1"/>
          <p:nvPr/>
        </p:nvSpPr>
        <p:spPr>
          <a:xfrm>
            <a:off x="6233652" y="283339"/>
            <a:ext cx="5466735" cy="286232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This is an </a:t>
            </a:r>
            <a:r>
              <a:rPr lang="en-IN" b="1" dirty="0">
                <a:latin typeface="Times New Roman" panose="02020603050405020304" pitchFamily="18" charset="0"/>
                <a:cs typeface="Times New Roman" panose="02020603050405020304" pitchFamily="18" charset="0"/>
              </a:rPr>
              <a:t>Arduino UNO based water quality + motor control system</a:t>
            </a:r>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Components Visible: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Arduino UNO</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Turbidity sensor (red module, left)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DHT sensor (blue module)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pH meter module (bottom right)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Relay module (right side)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DC motor / pump</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External battery pack</a:t>
            </a:r>
          </a:p>
        </p:txBody>
      </p:sp>
      <p:sp>
        <p:nvSpPr>
          <p:cNvPr id="21" name="TextBox 20">
            <a:extLst>
              <a:ext uri="{FF2B5EF4-FFF2-40B4-BE49-F238E27FC236}">
                <a16:creationId xmlns:a16="http://schemas.microsoft.com/office/drawing/2014/main" id="{CE673B80-BCC5-4995-564B-6A293D3B9F0C}"/>
              </a:ext>
            </a:extLst>
          </p:cNvPr>
          <p:cNvSpPr txBox="1"/>
          <p:nvPr/>
        </p:nvSpPr>
        <p:spPr>
          <a:xfrm>
            <a:off x="6096000" y="3712340"/>
            <a:ext cx="6263148" cy="286232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This is an </a:t>
            </a:r>
            <a:r>
              <a:rPr lang="en-IN" b="1" dirty="0">
                <a:latin typeface="Times New Roman" panose="02020603050405020304" pitchFamily="18" charset="0"/>
                <a:cs typeface="Times New Roman" panose="02020603050405020304" pitchFamily="18" charset="0"/>
              </a:rPr>
              <a:t>ESP8266 / ESP32 based soil quality + display system</a:t>
            </a:r>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Components: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ESP board</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Soil moisture sensor</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16x2 LCD display (I2C)</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Relay module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Water pump</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DHT sensor</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Push button</a:t>
            </a:r>
          </a:p>
        </p:txBody>
      </p:sp>
      <p:cxnSp>
        <p:nvCxnSpPr>
          <p:cNvPr id="23" name="Straight Connector 22">
            <a:extLst>
              <a:ext uri="{FF2B5EF4-FFF2-40B4-BE49-F238E27FC236}">
                <a16:creationId xmlns:a16="http://schemas.microsoft.com/office/drawing/2014/main" id="{F6A18394-B42F-DE89-A1CE-9F4D723FD981}"/>
              </a:ext>
            </a:extLst>
          </p:cNvPr>
          <p:cNvCxnSpPr/>
          <p:nvPr/>
        </p:nvCxnSpPr>
        <p:spPr>
          <a:xfrm>
            <a:off x="6096000" y="0"/>
            <a:ext cx="0" cy="685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7179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D0CD832-00D1-E06F-4320-5C9752BA6B5D}"/>
              </a:ext>
            </a:extLst>
          </p:cNvPr>
          <p:cNvSpPr txBox="1"/>
          <p:nvPr/>
        </p:nvSpPr>
        <p:spPr>
          <a:xfrm>
            <a:off x="1337187" y="78658"/>
            <a:ext cx="7836310" cy="369332"/>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584B7A5-B8D2-9AE3-5E3A-44CADC3AB070}"/>
              </a:ext>
            </a:extLst>
          </p:cNvPr>
          <p:cNvSpPr txBox="1"/>
          <p:nvPr/>
        </p:nvSpPr>
        <p:spPr>
          <a:xfrm>
            <a:off x="88490" y="186813"/>
            <a:ext cx="12103510" cy="707886"/>
          </a:xfrm>
          <a:prstGeom prst="rect">
            <a:avLst/>
          </a:prstGeom>
          <a:noFill/>
        </p:spPr>
        <p:txBody>
          <a:bodyPr wrap="square" rtlCol="0">
            <a:spAutoFit/>
          </a:bodyPr>
          <a:lstStyle/>
          <a:p>
            <a:r>
              <a:rPr lang="en-US" sz="4000" u="sng" dirty="0">
                <a:solidFill>
                  <a:schemeClr val="tx1">
                    <a:lumMod val="65000"/>
                    <a:lumOff val="35000"/>
                  </a:schemeClr>
                </a:solidFill>
                <a:latin typeface="Times New Roman" panose="02020603050405020304" pitchFamily="18" charset="0"/>
                <a:cs typeface="Times New Roman" panose="02020603050405020304" pitchFamily="18" charset="0"/>
              </a:rPr>
              <a:t>Data Acquisition &amp; Firmware</a:t>
            </a:r>
            <a:endParaRPr lang="en-IN" sz="4000"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35D1CBB-5883-3F47-F981-6F31E534D278}"/>
              </a:ext>
            </a:extLst>
          </p:cNvPr>
          <p:cNvSpPr txBox="1"/>
          <p:nvPr/>
        </p:nvSpPr>
        <p:spPr>
          <a:xfrm>
            <a:off x="196645" y="1140542"/>
            <a:ext cx="11798710" cy="470898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firmware was developed using Arduino IDE. The system performs periodic sampling of all sensors at fixed time intervals . The data acquisition process includes: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Sensor polling sequence to avoid timing conflicts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ADC reading and conversion to physical units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Filtering using moving average technique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JSON packet formation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HTTP POST transmission to backend</a:t>
            </a:r>
          </a:p>
          <a:p>
            <a:pPr algn="just"/>
            <a:r>
              <a:rPr lang="en-US" sz="2000" dirty="0">
                <a:latin typeface="Times New Roman" panose="02020603050405020304" pitchFamily="18" charset="0"/>
                <a:cs typeface="Times New Roman" panose="02020603050405020304" pitchFamily="18" charset="0"/>
              </a:rPr>
              <a:t>Non-blocking programming techniques were implemented to handle multiple sensor protocols simultaneously. This prevents delay-based blocking and improves synchronization between analog, digital, and UART sensors.</a:t>
            </a:r>
          </a:p>
          <a:p>
            <a:pPr algn="just"/>
            <a:r>
              <a:rPr lang="en-US" sz="2000" dirty="0">
                <a:latin typeface="Times New Roman" panose="02020603050405020304" pitchFamily="18" charset="0"/>
                <a:cs typeface="Times New Roman" panose="02020603050405020304" pitchFamily="18" charset="0"/>
              </a:rPr>
              <a:t>To improve communication reliability, the firmware includes: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Automatic Wi-Fi reconnection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Transmission acknowledgment verification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Exponential backoff retry logic</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Local data buffering during disconnections</a:t>
            </a:r>
          </a:p>
          <a:p>
            <a:pPr algn="just"/>
            <a:r>
              <a:rPr lang="en-US" sz="2000" dirty="0">
                <a:latin typeface="Times New Roman" panose="02020603050405020304" pitchFamily="18" charset="0"/>
                <a:cs typeface="Times New Roman" panose="02020603050405020304" pitchFamily="18" charset="0"/>
              </a:rPr>
              <a:t>This ensures minimal packet loss even under unstable field network conditions.</a:t>
            </a:r>
          </a:p>
        </p:txBody>
      </p:sp>
    </p:spTree>
    <p:extLst>
      <p:ext uri="{BB962C8B-B14F-4D97-AF65-F5344CB8AC3E}">
        <p14:creationId xmlns:p14="http://schemas.microsoft.com/office/powerpoint/2010/main" val="1253651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9A0E2B-6FFA-539B-66EF-26CA86FDFCDB}"/>
              </a:ext>
            </a:extLst>
          </p:cNvPr>
          <p:cNvSpPr txBox="1"/>
          <p:nvPr/>
        </p:nvSpPr>
        <p:spPr>
          <a:xfrm>
            <a:off x="245807" y="0"/>
            <a:ext cx="12654116" cy="769441"/>
          </a:xfrm>
          <a:prstGeom prst="rect">
            <a:avLst/>
          </a:prstGeom>
          <a:noFill/>
        </p:spPr>
        <p:txBody>
          <a:bodyPr wrap="square">
            <a:spAutoFit/>
          </a:bodyPr>
          <a:lstStyle/>
          <a:p>
            <a:r>
              <a:rPr kumimoji="0" lang="en-US" sz="4400" b="0" i="0" u="sng" strike="noStrike" kern="1200" cap="none" spc="0" normalizeH="0" baseline="0" noProof="0" dirty="0">
                <a:ln>
                  <a:noFill/>
                </a:ln>
                <a:solidFill>
                  <a:prstClr val="black">
                    <a:lumMod val="65000"/>
                    <a:lumOff val="35000"/>
                  </a:prstClr>
                </a:solidFill>
                <a:effectLst/>
                <a:uLnTx/>
                <a:uFillTx/>
                <a:latin typeface="Times New Roman" panose="02020603050405020304" pitchFamily="18" charset="0"/>
                <a:ea typeface="+mj-ea"/>
                <a:cs typeface="Times New Roman" panose="02020603050405020304" pitchFamily="18" charset="0"/>
              </a:rPr>
              <a:t>Results – Focused on Data Acquisition Performance</a:t>
            </a:r>
            <a:endParaRPr lang="en-IN" dirty="0"/>
          </a:p>
        </p:txBody>
      </p:sp>
      <p:sp>
        <p:nvSpPr>
          <p:cNvPr id="8" name="TextBox 7">
            <a:extLst>
              <a:ext uri="{FF2B5EF4-FFF2-40B4-BE49-F238E27FC236}">
                <a16:creationId xmlns:a16="http://schemas.microsoft.com/office/drawing/2014/main" id="{CDC20915-D8D0-9A02-2E12-1869E825E5AF}"/>
              </a:ext>
            </a:extLst>
          </p:cNvPr>
          <p:cNvSpPr txBox="1"/>
          <p:nvPr/>
        </p:nvSpPr>
        <p:spPr>
          <a:xfrm>
            <a:off x="245806" y="884903"/>
            <a:ext cx="11651225" cy="347787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Experimental testing was conducted under controlled and semi-field conditions to evaluate sensor acquisition accuracy and backend logging reliability.</a:t>
            </a:r>
          </a:p>
          <a:p>
            <a:pPr algn="just"/>
            <a:r>
              <a:rPr lang="en-US" sz="2000" b="1" dirty="0">
                <a:latin typeface="Times New Roman" panose="02020603050405020304" pitchFamily="18" charset="0"/>
                <a:cs typeface="Times New Roman" panose="02020603050405020304" pitchFamily="18" charset="0"/>
              </a:rPr>
              <a:t>Data Acquisition Observations:</a:t>
            </a:r>
          </a:p>
          <a:p>
            <a:r>
              <a:rPr lang="en-US" sz="2000" dirty="0">
                <a:latin typeface="Times New Roman" panose="02020603050405020304" pitchFamily="18" charset="0"/>
                <a:cs typeface="Times New Roman" panose="02020603050405020304" pitchFamily="18" charset="0"/>
              </a:rPr>
              <a:t>• ADC readings remained stable after applying moving average filtering.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pH calibration reduced measurement deviation significantly.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RS485 communication with NPK sensor showed stable data transmission without packet corruption.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Multi-sensor synchronization was successfully achieved without timing conflicts.</a:t>
            </a:r>
          </a:p>
          <a:p>
            <a:pPr algn="just"/>
            <a:r>
              <a:rPr lang="en-US" sz="2000" b="1" dirty="0">
                <a:latin typeface="Times New Roman" panose="02020603050405020304" pitchFamily="18" charset="0"/>
                <a:cs typeface="Times New Roman" panose="02020603050405020304" pitchFamily="18" charset="0"/>
              </a:rPr>
              <a:t>Communication Performance:</a:t>
            </a:r>
          </a:p>
          <a:p>
            <a:pPr algn="just"/>
            <a:r>
              <a:rPr lang="en-US" sz="2000" dirty="0">
                <a:latin typeface="Times New Roman" panose="02020603050405020304" pitchFamily="18" charset="0"/>
                <a:cs typeface="Times New Roman" panose="02020603050405020304" pitchFamily="18" charset="0"/>
              </a:rPr>
              <a:t>• Average transmission latency remained within acceptable limits under stable Wi-Fi conditions.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Wi-Fi reconnection logic successfully restored connectivity after simulated disconnections.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Local buffering prevented data loss during temporary network outages.</a:t>
            </a:r>
          </a:p>
        </p:txBody>
      </p:sp>
      <p:pic>
        <p:nvPicPr>
          <p:cNvPr id="9" name="Picture 8">
            <a:extLst>
              <a:ext uri="{FF2B5EF4-FFF2-40B4-BE49-F238E27FC236}">
                <a16:creationId xmlns:a16="http://schemas.microsoft.com/office/drawing/2014/main" id="{00C24896-57E3-75A3-5901-DD9147DD5586}"/>
              </a:ext>
            </a:extLst>
          </p:cNvPr>
          <p:cNvPicPr>
            <a:picLocks noChangeAspect="1"/>
          </p:cNvPicPr>
          <p:nvPr/>
        </p:nvPicPr>
        <p:blipFill>
          <a:blip r:embed="rId2">
            <a:extLst>
              <a:ext uri="{28A0092B-C50C-407E-A947-70E740481C1C}">
                <a14:useLocalDpi xmlns:a14="http://schemas.microsoft.com/office/drawing/2010/main" val="0"/>
              </a:ext>
            </a:extLst>
          </a:blip>
          <a:srcRect t="5810" r="3951" b="15771"/>
          <a:stretch>
            <a:fillRect/>
          </a:stretch>
        </p:blipFill>
        <p:spPr>
          <a:xfrm>
            <a:off x="245806" y="4362778"/>
            <a:ext cx="11710219" cy="2438400"/>
          </a:xfrm>
          <a:prstGeom prst="rect">
            <a:avLst/>
          </a:prstGeom>
        </p:spPr>
      </p:pic>
    </p:spTree>
    <p:extLst>
      <p:ext uri="{BB962C8B-B14F-4D97-AF65-F5344CB8AC3E}">
        <p14:creationId xmlns:p14="http://schemas.microsoft.com/office/powerpoint/2010/main" val="4115492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1787A-6008-623A-247F-62A5925E1806}"/>
              </a:ext>
            </a:extLst>
          </p:cNvPr>
          <p:cNvSpPr>
            <a:spLocks noGrp="1"/>
          </p:cNvSpPr>
          <p:nvPr>
            <p:ph type="title"/>
          </p:nvPr>
        </p:nvSpPr>
        <p:spPr>
          <a:xfrm>
            <a:off x="838200" y="365125"/>
            <a:ext cx="3861619" cy="637765"/>
          </a:xfrm>
        </p:spPr>
        <p:txBody>
          <a:bodyPr>
            <a:normAutofit fontScale="90000"/>
          </a:bodyPr>
          <a:lstStyle/>
          <a:p>
            <a:r>
              <a:rPr lang="en-US" sz="4000" u="sng" dirty="0">
                <a:solidFill>
                  <a:schemeClr val="tx1">
                    <a:lumMod val="65000"/>
                    <a:lumOff val="35000"/>
                  </a:schemeClr>
                </a:solidFill>
                <a:latin typeface="Times New Roman" panose="02020603050405020304" pitchFamily="18" charset="0"/>
                <a:cs typeface="Times New Roman" panose="02020603050405020304" pitchFamily="18" charset="0"/>
              </a:rPr>
              <a:t>ISSUES FACED  </a:t>
            </a:r>
            <a:endParaRPr lang="en-IN" sz="4000"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44905F-34D3-5D64-7271-1E27809E3706}"/>
              </a:ext>
            </a:extLst>
          </p:cNvPr>
          <p:cNvSpPr txBox="1">
            <a:spLocks/>
          </p:cNvSpPr>
          <p:nvPr/>
        </p:nvSpPr>
        <p:spPr>
          <a:xfrm>
            <a:off x="419101" y="1305341"/>
            <a:ext cx="5132438" cy="41492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mj-lt"/>
              <a:buAutoNum type="arabicPeriod"/>
            </a:pPr>
            <a:r>
              <a:rPr lang="en-IN" sz="1800" b="1" dirty="0"/>
              <a:t>Inconsistent Sensor Readings: </a:t>
            </a:r>
            <a:r>
              <a:rPr lang="en-IN" sz="1800" dirty="0"/>
              <a:t>Variations in soil, water, and environmental sensor outputs due to noise, calibration drift, and environmental interference.</a:t>
            </a:r>
          </a:p>
          <a:p>
            <a:pPr marL="342900" indent="-342900" algn="just">
              <a:buFont typeface="+mj-lt"/>
              <a:buAutoNum type="arabicPeriod"/>
            </a:pPr>
            <a:r>
              <a:rPr lang="en-IN" sz="1800" b="1" dirty="0"/>
              <a:t>Multi-Protocol Handling Difficulty: </a:t>
            </a:r>
            <a:r>
              <a:rPr lang="en-IN" sz="1800" dirty="0"/>
              <a:t>Managing UART, I2C, Analog, and RS485 sensors together increased firmware complexity and timing conflicts.</a:t>
            </a:r>
          </a:p>
          <a:p>
            <a:pPr marL="342900" indent="-342900" algn="just">
              <a:buFont typeface="+mj-lt"/>
              <a:buAutoNum type="arabicPeriod"/>
            </a:pPr>
            <a:r>
              <a:rPr lang="en-IN" sz="1800" b="1" dirty="0"/>
              <a:t>Wi-Fi Disconnections: </a:t>
            </a:r>
            <a:r>
              <a:rPr lang="en-IN" sz="1800" dirty="0"/>
              <a:t>Unstable field network conditions caused frequent packet drops and interrupted data transmission to the cloud.</a:t>
            </a:r>
          </a:p>
          <a:p>
            <a:pPr marL="342900" indent="-342900" algn="just">
              <a:buFont typeface="+mj-lt"/>
              <a:buAutoNum type="arabicPeriod"/>
            </a:pPr>
            <a:r>
              <a:rPr lang="en-IN" sz="1800" b="1" dirty="0"/>
              <a:t> Field Power Stability Issues: </a:t>
            </a:r>
            <a:r>
              <a:rPr lang="en-IN" sz="1800" dirty="0"/>
              <a:t>Outdoor deployment led to voltage fluctuations, moisture exposure, and occasional brown-outs in the ESP32 node.</a:t>
            </a:r>
          </a:p>
        </p:txBody>
      </p:sp>
      <p:cxnSp>
        <p:nvCxnSpPr>
          <p:cNvPr id="5" name="Straight Connector 4">
            <a:extLst>
              <a:ext uri="{FF2B5EF4-FFF2-40B4-BE49-F238E27FC236}">
                <a16:creationId xmlns:a16="http://schemas.microsoft.com/office/drawing/2014/main" id="{02EB020B-8A1C-3F48-6F27-EEF247B30A54}"/>
              </a:ext>
            </a:extLst>
          </p:cNvPr>
          <p:cNvCxnSpPr/>
          <p:nvPr/>
        </p:nvCxnSpPr>
        <p:spPr>
          <a:xfrm>
            <a:off x="6096000" y="0"/>
            <a:ext cx="0" cy="6858000"/>
          </a:xfrm>
          <a:prstGeom prst="line">
            <a:avLst/>
          </a:prstGeom>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3D090335-D1EE-9CA0-01EC-55FAEEBA8F4C}"/>
              </a:ext>
            </a:extLst>
          </p:cNvPr>
          <p:cNvSpPr txBox="1">
            <a:spLocks/>
          </p:cNvSpPr>
          <p:nvPr/>
        </p:nvSpPr>
        <p:spPr>
          <a:xfrm>
            <a:off x="7079227" y="286466"/>
            <a:ext cx="4473678" cy="8442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u="sng" dirty="0">
                <a:solidFill>
                  <a:schemeClr val="tx1">
                    <a:lumMod val="65000"/>
                    <a:lumOff val="35000"/>
                  </a:schemeClr>
                </a:solidFill>
                <a:latin typeface="Times New Roman" panose="02020603050405020304" pitchFamily="18" charset="0"/>
                <a:cs typeface="Times New Roman" panose="02020603050405020304" pitchFamily="18" charset="0"/>
              </a:rPr>
              <a:t>Solutions Implemented</a:t>
            </a:r>
            <a:endParaRPr lang="en-IN" sz="3600"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977E506-3B84-11B5-0A10-B3CB198D3452}"/>
              </a:ext>
            </a:extLst>
          </p:cNvPr>
          <p:cNvSpPr txBox="1"/>
          <p:nvPr/>
        </p:nvSpPr>
        <p:spPr>
          <a:xfrm>
            <a:off x="6774426" y="1305341"/>
            <a:ext cx="5132439" cy="4247317"/>
          </a:xfrm>
          <a:prstGeom prst="rect">
            <a:avLst/>
          </a:prstGeom>
          <a:noFill/>
        </p:spPr>
        <p:txBody>
          <a:bodyPr wrap="square" rtlCol="0">
            <a:spAutoFit/>
          </a:bodyPr>
          <a:lstStyle/>
          <a:p>
            <a:pPr marL="342900" indent="-342900" algn="just">
              <a:buFont typeface="+mj-lt"/>
              <a:buAutoNum type="arabicPeriod"/>
            </a:pPr>
            <a:r>
              <a:rPr lang="en-US" b="1" dirty="0"/>
              <a:t>Sensor Calibration &amp; Data Filtering: </a:t>
            </a:r>
            <a:r>
              <a:rPr lang="en-US" dirty="0"/>
              <a:t>Applied two-point calibration, moving-average filters, and signal smoothing to stabilize and improve measurement accuracy.</a:t>
            </a:r>
          </a:p>
          <a:p>
            <a:pPr marL="342900" indent="-342900" algn="just">
              <a:buFont typeface="+mj-lt"/>
              <a:buAutoNum type="arabicPeriod"/>
            </a:pPr>
            <a:r>
              <a:rPr lang="en-US" b="1" dirty="0"/>
              <a:t>Optimized Firmware Architecture: </a:t>
            </a:r>
            <a:r>
              <a:rPr lang="en-US" dirty="0"/>
              <a:t>Implemented non-blocking code, structured sensor polling, and protocol-specific drivers to ensure reliable multi-sensor operation.</a:t>
            </a:r>
          </a:p>
          <a:p>
            <a:pPr marL="342900" indent="-342900" algn="just">
              <a:buFont typeface="+mj-lt"/>
              <a:buAutoNum type="arabicPeriod"/>
            </a:pPr>
            <a:r>
              <a:rPr lang="en-US" b="1" dirty="0"/>
              <a:t>Robust Wi-Fi Reconnect Logic: </a:t>
            </a:r>
            <a:r>
              <a:rPr lang="en-US" dirty="0"/>
              <a:t>Added automatic reconnection, exponential backoff, local data buffering, and periodic network health checks.</a:t>
            </a:r>
          </a:p>
          <a:p>
            <a:pPr marL="342900" indent="-342900" algn="just">
              <a:buFont typeface="+mj-lt"/>
              <a:buAutoNum type="arabicPeriod"/>
            </a:pPr>
            <a:r>
              <a:rPr lang="en-US" b="1" dirty="0"/>
              <a:t>Outdoor-Ready Power Conditioning: </a:t>
            </a:r>
            <a:r>
              <a:rPr lang="en-US" dirty="0"/>
              <a:t>Used voltage regulators, surge protection, waterproof enclosures, and stable 5V/3.3V supply modules to improve field reliability.</a:t>
            </a:r>
          </a:p>
        </p:txBody>
      </p:sp>
    </p:spTree>
    <p:extLst>
      <p:ext uri="{BB962C8B-B14F-4D97-AF65-F5344CB8AC3E}">
        <p14:creationId xmlns:p14="http://schemas.microsoft.com/office/powerpoint/2010/main" val="694414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BC0C-59AB-2339-522B-00F9240378C1}"/>
              </a:ext>
            </a:extLst>
          </p:cNvPr>
          <p:cNvSpPr>
            <a:spLocks noGrp="1"/>
          </p:cNvSpPr>
          <p:nvPr>
            <p:ph type="title"/>
          </p:nvPr>
        </p:nvSpPr>
        <p:spPr>
          <a:xfrm>
            <a:off x="6885039" y="370042"/>
            <a:ext cx="4481052" cy="686927"/>
          </a:xfrm>
        </p:spPr>
        <p:txBody>
          <a:bodyPr>
            <a:normAutofit/>
          </a:bodyPr>
          <a:lstStyle/>
          <a:p>
            <a:r>
              <a:rPr lang="en-US" sz="4000" u="sng" dirty="0">
                <a:solidFill>
                  <a:schemeClr val="tx1">
                    <a:lumMod val="65000"/>
                    <a:lumOff val="35000"/>
                  </a:schemeClr>
                </a:solidFill>
                <a:latin typeface="Times New Roman" panose="02020603050405020304" pitchFamily="18" charset="0"/>
                <a:cs typeface="Times New Roman" panose="02020603050405020304" pitchFamily="18" charset="0"/>
              </a:rPr>
              <a:t> CONCLUSION</a:t>
            </a:r>
            <a:endParaRPr lang="en-IN" sz="4000"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088E7F96-9019-D5ED-15D2-175C77B9BF01}"/>
              </a:ext>
            </a:extLst>
          </p:cNvPr>
          <p:cNvCxnSpPr>
            <a:cxnSpLocks/>
          </p:cNvCxnSpPr>
          <p:nvPr/>
        </p:nvCxnSpPr>
        <p:spPr>
          <a:xfrm>
            <a:off x="6096000" y="0"/>
            <a:ext cx="0" cy="6858000"/>
          </a:xfrm>
          <a:prstGeom prst="line">
            <a:avLst/>
          </a:prstGeom>
        </p:spPr>
        <p:style>
          <a:lnRef idx="1">
            <a:schemeClr val="dk1"/>
          </a:lnRef>
          <a:fillRef idx="0">
            <a:schemeClr val="dk1"/>
          </a:fillRef>
          <a:effectRef idx="0">
            <a:schemeClr val="dk1"/>
          </a:effectRef>
          <a:fontRef idx="minor">
            <a:schemeClr val="tx1"/>
          </a:fontRef>
        </p:style>
      </p:cxnSp>
      <p:sp>
        <p:nvSpPr>
          <p:cNvPr id="10" name="Title 1">
            <a:extLst>
              <a:ext uri="{FF2B5EF4-FFF2-40B4-BE49-F238E27FC236}">
                <a16:creationId xmlns:a16="http://schemas.microsoft.com/office/drawing/2014/main" id="{12B17060-DC31-4597-4F67-CABF480E6A0D}"/>
              </a:ext>
            </a:extLst>
          </p:cNvPr>
          <p:cNvSpPr txBox="1">
            <a:spLocks/>
          </p:cNvSpPr>
          <p:nvPr/>
        </p:nvSpPr>
        <p:spPr>
          <a:xfrm>
            <a:off x="538316" y="370042"/>
            <a:ext cx="4481052" cy="6869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u="sng">
                <a:solidFill>
                  <a:schemeClr val="tx1">
                    <a:lumMod val="65000"/>
                    <a:lumOff val="35000"/>
                  </a:schemeClr>
                </a:solidFill>
                <a:latin typeface="Times New Roman" panose="02020603050405020304" pitchFamily="18" charset="0"/>
                <a:cs typeface="Times New Roman" panose="02020603050405020304" pitchFamily="18" charset="0"/>
              </a:rPr>
              <a:t> FUTURE WORK</a:t>
            </a:r>
            <a:endParaRPr lang="en-IN" sz="4000"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61FFBD24-371C-E30E-9A89-0DA410CEA54E}"/>
              </a:ext>
            </a:extLst>
          </p:cNvPr>
          <p:cNvSpPr>
            <a:spLocks noChangeArrowheads="1"/>
          </p:cNvSpPr>
          <p:nvPr/>
        </p:nvSpPr>
        <p:spPr bwMode="auto">
          <a:xfrm>
            <a:off x="-169607" y="2274838"/>
            <a:ext cx="589689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Adoption of long-range communication protocols like </a:t>
            </a:r>
            <a:r>
              <a:rPr lang="en-US" altLang="en-US" dirty="0" err="1">
                <a:latin typeface="Times New Roman" panose="02020603050405020304" pitchFamily="18" charset="0"/>
                <a:cs typeface="Times New Roman" panose="02020603050405020304" pitchFamily="18" charset="0"/>
              </a:rPr>
              <a:t>LoRaWAN</a:t>
            </a:r>
            <a:r>
              <a:rPr lang="en-US" altLang="en-US" dirty="0">
                <a:latin typeface="Times New Roman" panose="02020603050405020304" pitchFamily="18" charset="0"/>
                <a:cs typeface="Times New Roman" panose="02020603050405020304" pitchFamily="18" charset="0"/>
              </a:rPr>
              <a:t>/NB-IoT for large farm deployments.</a:t>
            </a:r>
          </a:p>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Addition of advanced sensors (EC sensor, camera for disease detection).</a:t>
            </a:r>
          </a:p>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Development of a mobile app/dashboard with alerts, recommendations, and historical data visualization.</a:t>
            </a:r>
          </a:p>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Field testing in real farms to validate performance, improve calibration, and collect broader datasets.</a:t>
            </a:r>
          </a:p>
        </p:txBody>
      </p:sp>
      <p:sp>
        <p:nvSpPr>
          <p:cNvPr id="12" name="Rectangle 4">
            <a:extLst>
              <a:ext uri="{FF2B5EF4-FFF2-40B4-BE49-F238E27FC236}">
                <a16:creationId xmlns:a16="http://schemas.microsoft.com/office/drawing/2014/main" id="{6DEDFAAE-3159-96AA-1206-EAC495A0A4F9}"/>
              </a:ext>
            </a:extLst>
          </p:cNvPr>
          <p:cNvSpPr>
            <a:spLocks noChangeArrowheads="1"/>
          </p:cNvSpPr>
          <p:nvPr/>
        </p:nvSpPr>
        <p:spPr bwMode="auto">
          <a:xfrm>
            <a:off x="6089306" y="1377291"/>
            <a:ext cx="607251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The developed </a:t>
            </a:r>
            <a:r>
              <a:rPr lang="en-US" altLang="en-US" dirty="0" err="1">
                <a:latin typeface="Times New Roman" panose="02020603050405020304" pitchFamily="18" charset="0"/>
                <a:cs typeface="Times New Roman" panose="02020603050405020304" pitchFamily="18" charset="0"/>
              </a:rPr>
              <a:t>AgroSphere</a:t>
            </a:r>
            <a:r>
              <a:rPr lang="en-US" altLang="en-US" dirty="0">
                <a:latin typeface="Times New Roman" panose="02020603050405020304" pitchFamily="18" charset="0"/>
                <a:cs typeface="Times New Roman" panose="02020603050405020304" pitchFamily="18" charset="0"/>
              </a:rPr>
              <a:t> system successfully integrates multi-sensor data acquisition using ESP32 for soil, water, and weather monitoring.</a:t>
            </a:r>
          </a:p>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Real-time data processing and wireless transmission enable efficient decision-making for farmers.</a:t>
            </a:r>
          </a:p>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Sensor readings (soil NPK, moisture, pH, water turbidity, weather conditions) help evaluate field conditions accurately.</a:t>
            </a:r>
          </a:p>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The system demonstrates reliability, low cost, and ease of implementation for precision agriculture.</a:t>
            </a:r>
          </a:p>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Results confirm that IoT-based smart farming significantly improves resource utilization and farm productivity.</a:t>
            </a:r>
          </a:p>
          <a:p>
            <a:pPr marL="800100" lvl="1" indent="-342900" algn="just" eaLnBrk="0" fontAlgn="base" hangingPunct="0">
              <a:spcBef>
                <a:spcPct val="0"/>
              </a:spcBef>
              <a:spcAft>
                <a:spcPct val="0"/>
              </a:spcAft>
              <a:buFont typeface="+mj-lt"/>
              <a:buAutoNum type="arabicPeriod"/>
            </a:pPr>
            <a:r>
              <a:rPr lang="en-US" altLang="en-US" dirty="0">
                <a:latin typeface="Times New Roman" panose="02020603050405020304" pitchFamily="18" charset="0"/>
                <a:cs typeface="Times New Roman" panose="02020603050405020304" pitchFamily="18" charset="0"/>
              </a:rPr>
              <a:t>The modular design allows easy expansion to additional sensors and automation units.</a:t>
            </a:r>
          </a:p>
        </p:txBody>
      </p:sp>
    </p:spTree>
    <p:extLst>
      <p:ext uri="{BB962C8B-B14F-4D97-AF65-F5344CB8AC3E}">
        <p14:creationId xmlns:p14="http://schemas.microsoft.com/office/powerpoint/2010/main" val="3796608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920ADD-76D0-065D-038C-8F193D7EBFCA}"/>
              </a:ext>
            </a:extLst>
          </p:cNvPr>
          <p:cNvSpPr txBox="1"/>
          <p:nvPr/>
        </p:nvSpPr>
        <p:spPr>
          <a:xfrm>
            <a:off x="3935604" y="2967335"/>
            <a:ext cx="4320791" cy="92333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sz="5400" dirty="0">
                <a:latin typeface="Times New Roman" panose="02020603050405020304" pitchFamily="18" charset="0"/>
                <a:cs typeface="Times New Roman" panose="02020603050405020304" pitchFamily="18" charset="0"/>
              </a:rPr>
              <a:t>THANK YOU</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0497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700</TotalTime>
  <Words>1425</Words>
  <Application>Microsoft Office PowerPoint</Application>
  <PresentationFormat>Widescreen</PresentationFormat>
  <Paragraphs>100</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AgroSphere: An IoT-Based Data Acquisition and Backend Dataset Generation Framework for Smart Farming</vt:lpstr>
      <vt:lpstr>Problems / Challenges</vt:lpstr>
      <vt:lpstr>System Architecture of AgroSphere</vt:lpstr>
      <vt:lpstr>PowerPoint Presentation</vt:lpstr>
      <vt:lpstr>PowerPoint Presentation</vt:lpstr>
      <vt:lpstr>System Implementation</vt:lpstr>
      <vt:lpstr>PowerPoint Presentation</vt:lpstr>
      <vt:lpstr>PowerPoint Presentation</vt:lpstr>
      <vt:lpstr>PowerPoint Presentation</vt:lpstr>
      <vt:lpstr>PowerPoint Presentation</vt:lpstr>
      <vt:lpstr>ISSUES FACED  </vt:lpstr>
      <vt:lpstr>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Yashraj Dash</dc:creator>
  <cp:lastModifiedBy>Yashraj Dash</cp:lastModifiedBy>
  <cp:revision>9</cp:revision>
  <dcterms:created xsi:type="dcterms:W3CDTF">2025-10-15T08:54:20Z</dcterms:created>
  <dcterms:modified xsi:type="dcterms:W3CDTF">2026-03-15T19:04:09Z</dcterms:modified>
</cp:coreProperties>
</file>